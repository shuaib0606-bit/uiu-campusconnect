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30566" y="2434679"/>
            <a:ext cx="6930866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1B365D"/>
                </a:solidFill>
                <a:latin typeface="Poppins"/>
              </a:rPr>
              <a:t>UIU </a:t>
            </a:r>
            <a:r>
              <a:rPr sz="4800" b="1" i="0" u="none">
                <a:solidFill>
                  <a:srgbClr val="00C49A"/>
                </a:solidFill>
                <a:latin typeface="Poppins"/>
              </a:rPr>
              <a:t>CampusConnect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5587" y="3326159"/>
            <a:ext cx="66008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64748B"/>
                </a:solidFill>
                <a:latin typeface="Inter"/>
              </a:rPr>
              <a:t>Campus Social &amp; Academic Networking Platform</a:t>
            </a:r>
            <a:r>
              <a:t>
</a:t>
            </a:r>
            <a:r>
              <a:rPr sz="1800" b="1" i="0" u="none">
                <a:solidFill>
                  <a:srgbClr val="64748B"/>
                </a:solidFill>
                <a:latin typeface="Inter"/>
              </a:rPr>
              <a:t>Project Management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14537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14537"/>
            <a:ext cx="52387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0" i="0" u="none" dirty="0">
                <a:solidFill>
                  <a:srgbClr val="475569"/>
                </a:solidFill>
                <a:latin typeface="Inter"/>
              </a:rPr>
              <a:t>UIU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CampusConnect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is a university-focused digital platform that brings social networking, academic communication, campus notices, events, and administrative functions into one shared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315295"/>
            <a:ext cx="4972050" cy="282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>
                <a:solidFill>
                  <a:srgbClr val="475569"/>
                </a:solidFill>
                <a:latin typeface="Inter"/>
              </a:rPr>
              <a:t>Objective:</a:t>
            </a:r>
            <a:r>
              <a:rPr sz="1600" b="0" i="0" u="none">
                <a:solidFill>
                  <a:srgbClr val="475569"/>
                </a:solidFill>
                <a:latin typeface="Inter"/>
              </a:rPr>
              <a:t> Create a secure, useful digital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95266"/>
            <a:ext cx="4972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>
                <a:solidFill>
                  <a:srgbClr val="475569"/>
                </a:solidFill>
                <a:latin typeface="Inter"/>
              </a:rPr>
              <a:t>Goal: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Reduce fragmentation across university communication and community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564707"/>
            <a:ext cx="4972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600" b="1" i="0" u="none" dirty="0">
                <a:solidFill>
                  <a:srgbClr val="475569"/>
                </a:solidFill>
                <a:latin typeface="Inter"/>
              </a:rPr>
              <a:t>Mechanism: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Provide role-based authentication, </a:t>
            </a:r>
            <a:r>
              <a:rPr sz="1600" b="0" i="0" u="none" dirty="0" err="1">
                <a:solidFill>
                  <a:srgbClr val="475569"/>
                </a:solidFill>
                <a:latin typeface="Inter"/>
              </a:rPr>
              <a:t>personalised</a:t>
            </a:r>
            <a:r>
              <a:rPr sz="1600" b="0" i="0" u="none" dirty="0">
                <a:solidFill>
                  <a:srgbClr val="475569"/>
                </a:solidFill>
                <a:latin typeface="Inter"/>
              </a:rPr>
              <a:t> feeds, and secure messaging.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14537"/>
            <a:ext cx="523875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3258145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738116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507557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4303"/>
            <a:ext cx="5334000" cy="37503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44303"/>
            <a:ext cx="5334000" cy="3750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511028"/>
            <a:ext cx="47005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Why Agile Scrum?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053953"/>
            <a:ext cx="44767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UIU CampusConnect contains many interconnected modules and will likely require changes based on user feedback. A sprint-based approach allows the team to release usable features incrementally.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354710"/>
            <a:ext cx="44767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We can test functionality with stakeholders and adjust priorities without waiting for the entire platform to be fully completed.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511028"/>
            <a:ext cx="47005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Key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053953"/>
            <a:ext cx="44767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• Flexible response to changing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3486298"/>
            <a:ext cx="44767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• Frequent feedback reduces risk of building unwanted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4208115"/>
            <a:ext cx="44767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• Early delivery of modules provides visible progress.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4929931"/>
            <a:ext cx="44767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• Continuous testing helps identify defects earlier.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Methodology: Agile Scrum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66168"/>
            <a:ext cx="11049000" cy="390658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975693"/>
          <a:ext cx="11029949" cy="3887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92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Activity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Application to UIU CampusConnect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92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Product Backlog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Collect and prioritise platform requirements such as authentication, feed, messaging, events and clubs.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92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Sprint Planning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Select a realistic group of high-priority backlog items for the next sprint.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92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Dev Sprint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Design, code, integrate and test the selected CampusConnect features.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923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Sprint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Demonstrate completed functionality to stakeholders and collect feedback.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924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Release Increment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Deploy stable, tested functionality and update the backlog based on learning.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50021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8512" y="2550021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44328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8512" y="344328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047083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8512" y="4047083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5087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8512" y="4650878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5254674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8512" y="5254674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Scrum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2109787"/>
            <a:ext cx="36195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1766292"/>
            <a:ext cx="5500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Vision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309217"/>
            <a:ext cx="52387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To create a unified digital campus ecosystem that connects students, faculty, university officials and campus organisations through social interaction, academic collaboration, communication and community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800475"/>
            <a:ext cx="5500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Primary Objectives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225" y="2147887"/>
            <a:ext cx="3543300" cy="3543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48450" y="4343400"/>
            <a:ext cx="49720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Provide a campus-specific social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450" y="4823370"/>
            <a:ext cx="49720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Support academic interaction between students &amp; faculty.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8450" y="5303341"/>
            <a:ext cx="4972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Centralise events, clubs, notices and community activities.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4286250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4766220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5246191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Vision &amp;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9923"/>
            <a:ext cx="3492549" cy="38190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09923"/>
            <a:ext cx="3492549" cy="38190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09923"/>
            <a:ext cx="3492549" cy="381907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352823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52948"/>
            <a:ext cx="26603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95873"/>
            <a:ext cx="290199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Registration, role-based authentication, permissions, user profiles, and comprehensive privacy controls for all members.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352823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352948"/>
            <a:ext cx="258032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Social Networking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895873"/>
            <a:ext cx="2901999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Campus feed, personalised content views, posts, media sharing, reactions, comments, interactive polls, and saved items.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352823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352948"/>
            <a:ext cx="237029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895873"/>
            <a:ext cx="290199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User connections, following mechanisms, private direct messaging, and real-time platform notifications.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362" y="2533798"/>
            <a:ext cx="504825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9862" y="2533798"/>
            <a:ext cx="3524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1961" y="2533798"/>
            <a:ext cx="504825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Core Functional Areas 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032099"/>
            <a:ext cx="4143375" cy="865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1B365D"/>
                </a:solidFill>
                <a:latin typeface="Inter SemiBold"/>
              </a:rPr>
              <a:t>Academic Support</a:t>
            </a:r>
            <a:r>
              <a:rPr b="0" i="0" u="none">
                <a:solidFill>
                  <a:srgbClr val="475569"/>
                </a:solidFill>
                <a:latin typeface="Inter"/>
              </a:rPr>
              <a:t> Faculty profiles, office hours, research info, academic resources, and section announcements.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5125" y="2032099"/>
            <a:ext cx="4143375" cy="865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1B365D"/>
                </a:solidFill>
                <a:latin typeface="Inter SemiBold"/>
              </a:rPr>
              <a:t>Official Communication</a:t>
            </a:r>
            <a:r>
              <a:rPr b="0" i="0" u="none">
                <a:solidFill>
                  <a:srgbClr val="475569"/>
                </a:solidFill>
                <a:latin typeface="Inter"/>
              </a:rPr>
              <a:t> Authorised university notices with intelligent targeting, priority flags, and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466207"/>
            <a:ext cx="4143375" cy="865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 dirty="0">
                <a:solidFill>
                  <a:srgbClr val="1B365D"/>
                </a:solidFill>
                <a:latin typeface="Inter SemiBold"/>
              </a:rPr>
              <a:t>Event Management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Event publishing, registration, capacity tracking, and modern QR/token-based attendee check-in.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5125" y="3466207"/>
            <a:ext cx="4143375" cy="865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1B365D"/>
                </a:solidFill>
                <a:latin typeface="Inter SemiBold"/>
              </a:rPr>
              <a:t>Clubs &amp; Groups</a:t>
            </a:r>
            <a:r>
              <a:rPr b="0" i="0" u="none">
                <a:solidFill>
                  <a:srgbClr val="475569"/>
                </a:solidFill>
                <a:latin typeface="Inter"/>
              </a:rPr>
              <a:t> Club directory, membership requests, course/batch groups, shared files, and event galleries.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2125" y="4900314"/>
            <a:ext cx="4143375" cy="865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1B365D"/>
                </a:solidFill>
                <a:latin typeface="Inter SemiBold"/>
              </a:rPr>
              <a:t>Community Services</a:t>
            </a:r>
            <a:r>
              <a:rPr b="0" i="0" u="none">
                <a:solidFill>
                  <a:srgbClr val="475569"/>
                </a:solidFill>
                <a:latin typeface="Inter"/>
              </a:rPr>
              <a:t> Peer-to-peer campus marketplace and integrated lost-and-found functionality.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4900314"/>
            <a:ext cx="4143375" cy="865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>
                <a:solidFill>
                  <a:srgbClr val="1B365D"/>
                </a:solidFill>
                <a:latin typeface="Inter SemiBold"/>
              </a:rPr>
              <a:t>Search &amp; Moderation</a:t>
            </a:r>
            <a:r>
              <a:rPr b="0" i="0" u="none">
                <a:solidFill>
                  <a:srgbClr val="475569"/>
                </a:solidFill>
                <a:latin typeface="Inter"/>
              </a:rPr>
              <a:t> Global search, content reporting, moderation centre, and secure administrator controls.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065436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5436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99544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499544"/>
            <a:ext cx="26670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933652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4933652"/>
            <a:ext cx="20955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Core Functional Areas 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" y="84082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308348"/>
            <a:ext cx="11049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i="0" u="none">
                <a:solidFill>
                  <a:srgbClr val="475569"/>
                </a:solidFill>
                <a:latin typeface="Inter"/>
              </a:rPr>
              <a:t>The following items are explicitly excluded from the current project scope to maintain focus on networking and communication core features: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521" y="5735157"/>
            <a:ext cx="7191375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i="0" u="none" dirty="0">
                <a:solidFill>
                  <a:srgbClr val="1B365D"/>
                </a:solidFill>
                <a:latin typeface="Inter SemiBold"/>
              </a:rPr>
              <a:t>Payment Gateways</a:t>
            </a:r>
            <a:r>
              <a:rPr b="0" i="0" u="none" dirty="0">
                <a:solidFill>
                  <a:srgbClr val="475569"/>
                </a:solidFill>
                <a:latin typeface="Inter"/>
              </a:rPr>
              <a:t> Direct financial transaction processing and payments are excluded.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D8EB96-7B4B-C179-1BC5-381681DA368A}"/>
              </a:ext>
            </a:extLst>
          </p:cNvPr>
          <p:cNvGrpSpPr/>
          <p:nvPr/>
        </p:nvGrpSpPr>
        <p:grpSpPr>
          <a:xfrm>
            <a:off x="677917" y="2109104"/>
            <a:ext cx="7620000" cy="3962548"/>
            <a:chOff x="2286000" y="2203698"/>
            <a:chExt cx="7620000" cy="3962548"/>
          </a:xfrm>
        </p:grpSpPr>
        <p:sp>
          <p:nvSpPr>
            <p:cNvPr id="4" name="TextBox 3"/>
            <p:cNvSpPr txBox="1"/>
            <p:nvPr/>
          </p:nvSpPr>
          <p:spPr>
            <a:xfrm>
              <a:off x="2714625" y="2203698"/>
              <a:ext cx="7191375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b="0" i="0" u="none" dirty="0">
                  <a:solidFill>
                    <a:srgbClr val="1B365D"/>
                  </a:solidFill>
                  <a:latin typeface="Inter SemiBold"/>
                </a:rPr>
                <a:t>Full LMS Replacement</a:t>
              </a:r>
              <a:r>
                <a:rPr b="0" i="0" u="none" dirty="0">
                  <a:solidFill>
                    <a:srgbClr val="475569"/>
                  </a:solidFill>
                  <a:latin typeface="Inter"/>
                </a:rPr>
                <a:t> The platform will not replace the university's primary Learning Management System.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714625" y="3348335"/>
              <a:ext cx="7191375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b="0" i="0" u="none">
                  <a:solidFill>
                    <a:srgbClr val="1B365D"/>
                  </a:solidFill>
                  <a:latin typeface="Inter SemiBold"/>
                </a:rPr>
                <a:t>Online Examination System</a:t>
              </a:r>
              <a:r>
                <a:rPr b="0" i="0" u="none">
                  <a:solidFill>
                    <a:srgbClr val="475569"/>
                  </a:solidFill>
                  <a:latin typeface="Inter"/>
                </a:rPr>
                <a:t> No native support for taking exams, grading, or online proctoring.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14625" y="4203501"/>
              <a:ext cx="7191375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b="0" i="0" u="none">
                  <a:solidFill>
                    <a:srgbClr val="1B365D"/>
                  </a:solidFill>
                  <a:latin typeface="Inter SemiBold"/>
                </a:rPr>
                <a:t>Video-Conferencing</a:t>
              </a:r>
              <a:r>
                <a:rPr b="0" i="0" u="none">
                  <a:solidFill>
                    <a:srgbClr val="475569"/>
                  </a:solidFill>
                  <a:latin typeface="Inter"/>
                </a:rPr>
                <a:t> No built-in live video streaming or real-time online classes.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14625" y="5058667"/>
              <a:ext cx="7191375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b="0" i="0" u="none">
                  <a:solidFill>
                    <a:srgbClr val="1B365D"/>
                  </a:solidFill>
                  <a:latin typeface="Inter SemiBold"/>
                </a:rPr>
                <a:t>ERP or Finance System</a:t>
              </a:r>
              <a:r>
                <a:rPr b="0" i="0" u="none">
                  <a:solidFill>
                    <a:srgbClr val="475569"/>
                  </a:solidFill>
                  <a:latin typeface="Inter"/>
                </a:rPr>
                <a:t> No university-wide resource planning or financial accounting integration.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0" y="2237035"/>
              <a:ext cx="209550" cy="219075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0" y="3381672"/>
              <a:ext cx="209550" cy="219075"/>
            </a:xfrm>
            <a:prstGeom prst="rect">
              <a:avLst/>
            </a:prstGeom>
          </p:spPr>
        </p:pic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0" y="4236839"/>
              <a:ext cx="209550" cy="219075"/>
            </a:xfrm>
            <a:prstGeom prst="rect">
              <a:avLst/>
            </a:prstGeom>
          </p:spPr>
        </p:pic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0" y="5092005"/>
              <a:ext cx="209550" cy="219075"/>
            </a:xfrm>
            <a:prstGeom prst="rect">
              <a:avLst/>
            </a:prstGeom>
          </p:spPr>
        </p:pic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0" y="5947171"/>
              <a:ext cx="209550" cy="219075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571500" y="327273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Out-of-Scope Items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005"/>
            <a:ext cx="11049000" cy="422091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818530"/>
          <a:ext cx="11029949" cy="420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26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Stakeholder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Interest /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266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Students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Primary users of social, academic, event, club and community features.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266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Faculty Members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Academic users with specialised profile and communication needs.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266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University Officials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Publish authorised notices and academic announcements.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266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Club Executives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Manage club membership, events and content generation.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266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Project Manager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Controls scope, schedule, risks, communication and delivery.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268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University Admin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Provides governance, approval and institutional support.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392858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89920" y="2392858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2996654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89920" y="2996654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60045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89920" y="3600450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204245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89920" y="4204245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808041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9920" y="4808041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5411837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89920" y="5411837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Major Stakeholders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8553"/>
            <a:ext cx="5334000" cy="43218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58553"/>
            <a:ext cx="5334000" cy="4321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225278"/>
            <a:ext cx="47005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Probability &amp; Impact Scales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768203"/>
            <a:ext cx="44767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Risk is evaluated using a 1–5 scale for both Probability (likelihood of occurrence) and Impact (severity of effect).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5219402"/>
            <a:ext cx="44767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Priority = Probability ×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225278"/>
            <a:ext cx="47005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The RMMM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2768203"/>
            <a:ext cx="44767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Risk Mitigation: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Actions taken before a risk occurs to reduce its probability or impact (e.g., security testing).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3779490"/>
            <a:ext cx="44767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Risk Monitoring: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Ongoing tracking of risk indicators so emerging problems are detected early.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4501306"/>
            <a:ext cx="44767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Risk Management: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Planned response after a risk occurs (e.g., restoring database from backup).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6825" y="3779490"/>
            <a:ext cx="42100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1 = Rare / Very Low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825" y="4259460"/>
            <a:ext cx="42100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3 = Possible / Moderate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4739431"/>
            <a:ext cx="4210050" cy="28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5 = Almost Certain / Severe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722340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202310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682281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Risk Management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2566"/>
            <a:ext cx="11049000" cy="535394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252091"/>
          <a:ext cx="11029949" cy="533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9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914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Risk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Mitigation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148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Scope Creep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Frequent changes in requirements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25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EF4444"/>
                          </a:solidFill>
                          <a:latin typeface="Inter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Maintain a prioritised product backlog; approve major changes through PM and stakeholders.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148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Schedule Delays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Development takes longer than planned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20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EF4444"/>
                          </a:solidFill>
                          <a:latin typeface="Inter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Use sprint planning, realistic deadlines, dependency tracking, and weekly progress reviews.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148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Performance at Scale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usage reduces 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16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F59E0B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Conduct load testing, optimise database queries, and scale infrastructure when required.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148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Low Adoption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Users do not adopt the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16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F59E0B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Involve users early, collect feedback, provide training, and execute awareness campaigns.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152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Security Vulnerabilities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475569"/>
                          </a:solidFill>
                          <a:latin typeface="Inter"/>
                        </a:rPr>
                        <a:t>Data exposure or breaches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475569"/>
                          </a:solidFill>
                          <a:latin typeface="Inter"/>
                        </a:rPr>
                        <a:t>15</a:t>
                      </a:r>
                      <a:r>
                        <a:t>
</a:t>
                      </a:r>
                      <a:r>
                        <a:rPr sz="1425" b="0" i="0" u="none">
                          <a:solidFill>
                            <a:srgbClr val="F59E0B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Implement role-based access, secure coding, input validation, and security penetration testing.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182641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8512" y="1826418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41477" y="1826418"/>
            <a:ext cx="7169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271968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8512" y="2719685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41477" y="2719685"/>
            <a:ext cx="7169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90242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8512" y="390242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1477" y="3902422"/>
            <a:ext cx="7169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795688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8512" y="4795688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41477" y="4795688"/>
            <a:ext cx="7169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68895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8512" y="5688955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41477" y="5688955"/>
            <a:ext cx="71694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261491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Top Project Risks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653" y="3694877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The WBS breaks the project into clear work packages across the main phases. This structure supports scheduling, resource allocation and progress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49103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7968" y="4843462"/>
            <a:ext cx="266830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B365D"/>
                </a:solidFill>
                <a:latin typeface="Poppins SemiBold"/>
              </a:rPr>
              <a:t>1. Initiation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233987"/>
            <a:ext cx="254124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Project charter creation, stakeholder identification, and feasibility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3888" y="2774900"/>
            <a:ext cx="266830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B365D"/>
                </a:solidFill>
                <a:latin typeface="Poppins SemiBold"/>
              </a:rPr>
              <a:t>2. Req.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419" y="3165425"/>
            <a:ext cx="254124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 dirty="0">
                <a:solidFill>
                  <a:srgbClr val="475569"/>
                </a:solidFill>
                <a:latin typeface="Inter"/>
              </a:rPr>
              <a:t>Collection of user, functional, and non-functional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9808" y="4843462"/>
            <a:ext cx="266830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B365D"/>
                </a:solidFill>
                <a:latin typeface="Poppins SemiBold"/>
              </a:rPr>
              <a:t>3. 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3339" y="5233987"/>
            <a:ext cx="254124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System architecture, database schema, UI/UX prototyping, and security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728" y="2774900"/>
            <a:ext cx="266830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B365D"/>
                </a:solidFill>
                <a:latin typeface="Poppins SemiBold"/>
              </a:rPr>
              <a:t>4.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9259" y="3165425"/>
            <a:ext cx="254124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Iterative agile coding of all core modules, networking features, and admin panels.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7820" y="4395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3740" y="4395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99659" y="4395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35579" y="4395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Work Breakdown 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4733"/>
            <a:ext cx="3492549" cy="35296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54733"/>
            <a:ext cx="3492549" cy="35296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54733"/>
            <a:ext cx="3492549" cy="35296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97633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97758"/>
            <a:ext cx="237029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Social &amp; Comms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40683"/>
            <a:ext cx="290199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4.1 &amp; 4.2: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Authentication, roles, profiles, campus feed, post interactions, connections, and private messaging systems.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497633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497758"/>
            <a:ext cx="278034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Academic &amp;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040683"/>
            <a:ext cx="290199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4.4 &amp; 4.5: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Faculty profiles, official notices, event creation, registration flows, and QR code check-in mechanics.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497633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497758"/>
            <a:ext cx="21502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B365D"/>
                </a:solidFill>
                <a:latin typeface="Poppins SemiBold"/>
              </a:rPr>
              <a:t>Clubs &amp;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040683"/>
            <a:ext cx="290199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4.6 &amp; 4.8: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Club directory, group file exchange, marketplace, moderation tools, reporting, and master admin dashboard.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362" y="2678608"/>
            <a:ext cx="504825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9862" y="2678608"/>
            <a:ext cx="3524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0536" y="2678608"/>
            <a:ext cx="447675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WBS: Development Phase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14537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14537"/>
            <a:ext cx="52387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UIU CampusConnect requires disciplined project management due to its broad functional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36353"/>
            <a:ext cx="4972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475569"/>
                </a:solidFill>
                <a:latin typeface="Inter"/>
              </a:rPr>
              <a:t>Agile Scrum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provides a practical framework to deliver incremental, testable releases.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505795"/>
            <a:ext cx="4972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425" b="1" i="0" u="none">
                <a:solidFill>
                  <a:srgbClr val="475569"/>
                </a:solidFill>
                <a:latin typeface="Inter"/>
              </a:rPr>
              <a:t>Vision &amp; Scope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establishes strict boundaries to avoid feature creep.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275236"/>
            <a:ext cx="4972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425" b="1" i="0" u="none">
                <a:solidFill>
                  <a:srgbClr val="475569"/>
                </a:solidFill>
                <a:latin typeface="Inter"/>
              </a:rPr>
              <a:t>Risk Plan &amp; RMMM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ensures we are prepared for technical and operational challenges.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44678"/>
            <a:ext cx="49720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The </a:t>
            </a:r>
            <a:r>
              <a:rPr sz="1425" b="1" i="0" u="none">
                <a:solidFill>
                  <a:srgbClr val="475569"/>
                </a:solidFill>
                <a:latin typeface="Inter"/>
              </a:rPr>
              <a:t>WBS</a:t>
            </a:r>
            <a:r>
              <a:rPr sz="1425" b="0" i="0" u="none">
                <a:solidFill>
                  <a:srgbClr val="475569"/>
                </a:solidFill>
                <a:latin typeface="Inter"/>
              </a:rPr>
              <a:t> translates the vision into executable, trackable work packages.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14537"/>
            <a:ext cx="5238750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2679203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448645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218086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987528"/>
            <a:ext cx="152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0C49A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B365D"/>
                </a:solidFill>
                <a:latin typeface="Poppins SemiBold"/>
              </a:rPr>
              <a:t>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2" y="4288035"/>
            <a:ext cx="3305175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036415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1B365D"/>
                </a:solidFill>
                <a:latin typeface="Poppin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03240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Thank you for your time and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1157</Words>
  <Application>Microsoft Macintosh PowerPoint</Application>
  <PresentationFormat>Widescreen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Shuaib</cp:lastModifiedBy>
  <cp:revision>2</cp:revision>
  <dcterms:created xsi:type="dcterms:W3CDTF">2013-01-27T09:14:16Z</dcterms:created>
  <dcterms:modified xsi:type="dcterms:W3CDTF">2026-08-15T04:06:21Z</dcterms:modified>
  <cp:category/>
</cp:coreProperties>
</file>