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7.png"/><Relationship Id="rId9" Type="http://schemas.openxmlformats.org/officeDocument/2006/relationships/image" Target="../media/image1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17.png"/><Relationship Id="rId7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Relationship Id="rId7" Type="http://schemas.openxmlformats.org/officeDocument/2006/relationships/image" Target="../media/image8.png"/><Relationship Id="rId8" Type="http://schemas.openxmlformats.org/officeDocument/2006/relationships/image" Target="../media/image3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Relationship Id="rId7" Type="http://schemas.openxmlformats.org/officeDocument/2006/relationships/image" Target="../media/image7.png"/><Relationship Id="rId8" Type="http://schemas.openxmlformats.org/officeDocument/2006/relationships/image" Target="../media/image3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7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7.png"/><Relationship Id="rId7" Type="http://schemas.openxmlformats.org/officeDocument/2006/relationships/image" Target="../media/image38.png"/><Relationship Id="rId8" Type="http://schemas.openxmlformats.org/officeDocument/2006/relationships/image" Target="../media/image8.png"/><Relationship Id="rId9" Type="http://schemas.openxmlformats.org/officeDocument/2006/relationships/image" Target="../media/image3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9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image" Target="../media/image42.png"/><Relationship Id="rId7" Type="http://schemas.openxmlformats.org/officeDocument/2006/relationships/image" Target="../media/image17.png"/><Relationship Id="rId8" Type="http://schemas.openxmlformats.org/officeDocument/2006/relationships/image" Target="../media/image4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37899" y="2306984"/>
            <a:ext cx="7116201" cy="866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0" sz="5400" i="0" u="none">
                <a:solidFill>
                  <a:srgbClr val="0F172A"/>
                </a:solidFill>
                <a:latin typeface="Plus Jakarta Sans ExtraBold"/>
              </a:rPr>
              <a:t>UIU CampusConnect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37899" y="3364259"/>
            <a:ext cx="7116201" cy="5048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1" sz="3150" i="0" u="none">
                <a:solidFill>
                  <a:srgbClr val="334155"/>
                </a:solidFill>
                <a:latin typeface="Plus Jakarta Sans"/>
              </a:rPr>
              <a:t>Project Management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07332" y="4154834"/>
            <a:ext cx="6777335" cy="3961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120"/>
              </a:lnSpc>
            </a:pPr>
            <a:r>
              <a:rPr b="0" sz="1950" i="0" u="none">
                <a:solidFill>
                  <a:srgbClr val="64748B"/>
                </a:solidFill>
                <a:latin typeface="Plus Jakarta Sans SemiBold"/>
              </a:rPr>
              <a:t>Agile Delivery, Scope Control &amp; Risk Management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1750" y="1957387"/>
            <a:ext cx="5238750" cy="40005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1500" y="1957387"/>
            <a:ext cx="5238750" cy="8684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0" sz="1425" i="0" u="none">
                <a:solidFill>
                  <a:srgbClr val="334155"/>
                </a:solidFill>
                <a:latin typeface="Plus Jakarta Sans Medium"/>
              </a:rPr>
              <a:t>UIU CampusConnect is a university-focused digital platform that brings fragmented social, academic, and administrative interactions into one shared environment.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2968674"/>
            <a:ext cx="5238750" cy="8684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0" sz="1425" i="0" u="none">
                <a:solidFill>
                  <a:srgbClr val="334155"/>
                </a:solidFill>
                <a:latin typeface="Plus Jakarta Sans Medium"/>
              </a:rPr>
              <a:t>By centralizing communication, we eliminate disjointed tools and foster a stronger, more connected, and highly secure university community.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9850" y="1995487"/>
            <a:ext cx="5162550" cy="39243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1500" y="571500"/>
            <a:ext cx="116014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3150" i="0" u="none">
                <a:solidFill>
                  <a:srgbClr val="0F172A"/>
                </a:solidFill>
                <a:latin typeface="Plus Jakarta Sans ExtraBold"/>
              </a:rPr>
              <a:t>One Platform for Campus Life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1219200"/>
            <a:ext cx="11049000" cy="28575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209948"/>
            <a:ext cx="3492549" cy="3495228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9799" y="2209948"/>
            <a:ext cx="3492549" cy="349522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8099" y="2209948"/>
            <a:ext cx="3492549" cy="34952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3295798"/>
            <a:ext cx="2141986" cy="333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2100" i="0" u="none">
                <a:solidFill>
                  <a:srgbClr val="0F172A"/>
                </a:solidFill>
                <a:latin typeface="Plus Jakarta Sans ExtraBold"/>
              </a:rPr>
              <a:t>Social &amp; Comms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72048"/>
            <a:ext cx="2806749" cy="14473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0" sz="1425" i="0" u="none">
                <a:solidFill>
                  <a:srgbClr val="334155"/>
                </a:solidFill>
                <a:latin typeface="Plus Jakarta Sans Medium"/>
              </a:rPr>
              <a:t>Dynamic campus feeds, detailed user profiles, and real-time messaging with push notifications to keep the community informed.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92699" y="3295798"/>
            <a:ext cx="2400768" cy="333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2100" i="0" u="none">
                <a:solidFill>
                  <a:srgbClr val="0F172A"/>
                </a:solidFill>
                <a:latin typeface="Plus Jakarta Sans ExtraBold"/>
              </a:rPr>
              <a:t>Academic Control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92699" y="3772048"/>
            <a:ext cx="2806749" cy="14473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0" sz="1425" i="0" u="none">
                <a:solidFill>
                  <a:srgbClr val="334155"/>
                </a:solidFill>
                <a:latin typeface="Plus Jakarta Sans Medium"/>
              </a:rPr>
              <a:t>Strict role-based authentication separating students, faculty, and officials, ensuring secure official announcements.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70999" y="3295798"/>
            <a:ext cx="2276378" cy="333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2100" i="0" u="none">
                <a:solidFill>
                  <a:srgbClr val="0F172A"/>
                </a:solidFill>
                <a:latin typeface="Plus Jakarta Sans ExtraBold"/>
              </a:rPr>
              <a:t>Campus Services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70999" y="3772048"/>
            <a:ext cx="2806749" cy="11578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0" sz="1425" i="0" u="none">
                <a:solidFill>
                  <a:srgbClr val="334155"/>
                </a:solidFill>
                <a:latin typeface="Plus Jakarta Sans Medium"/>
              </a:rPr>
              <a:t>Integrated event management with QR check-ins, official club directories, and a secure internal marketplace.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2619523"/>
            <a:ext cx="504825" cy="40005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92699" y="2619523"/>
            <a:ext cx="400050" cy="40005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70999" y="2619523"/>
            <a:ext cx="447675" cy="4000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71500" y="571500"/>
            <a:ext cx="116014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3150" i="0" u="none">
                <a:solidFill>
                  <a:srgbClr val="0F172A"/>
                </a:solidFill>
                <a:latin typeface="Plus Jakarta Sans ExtraBold"/>
              </a:rPr>
              <a:t>Core Modules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1500" y="1219200"/>
            <a:ext cx="11049000" cy="28575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708111" y="3267075"/>
            <a:ext cx="8775628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0" sz="4800" i="0" u="none">
                <a:solidFill>
                  <a:srgbClr val="0F172A"/>
                </a:solidFill>
                <a:latin typeface="Plus Jakarta Sans ExtraBold"/>
              </a:rPr>
              <a:t>Core Modules &amp; Architecture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1750" y="1531292"/>
            <a:ext cx="5238750" cy="40005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1500" y="1531292"/>
            <a:ext cx="5238750" cy="10054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b="1" sz="1650" i="0" u="none">
                <a:solidFill>
                  <a:srgbClr val="4F46E5"/>
                </a:solidFill>
                <a:latin typeface="Plus Jakarta Sans"/>
              </a:rPr>
              <a:t>Driving execution through Agile Scrum to accommodate real user feedback and ensure the most valuable features are delivered early.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2774900"/>
            <a:ext cx="5238750" cy="5789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0" sz="1425" i="0" u="none">
                <a:solidFill>
                  <a:srgbClr val="334155"/>
                </a:solidFill>
                <a:latin typeface="Plus Jakarta Sans Medium"/>
              </a:rPr>
              <a:t>CampusConnect contains many interconnected modules and requires rapid adaptation based on user feedback.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4875" y="3496716"/>
            <a:ext cx="4905375" cy="5789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1" sz="1425" i="0" u="none">
                <a:solidFill>
                  <a:srgbClr val="334155"/>
                </a:solidFill>
                <a:latin typeface="Plus Jakarta Sans"/>
              </a:rPr>
              <a:t>Flexibility:</a:t>
            </a:r>
            <a:r>
              <a:rPr b="0" sz="1425" i="0" u="none">
                <a:solidFill>
                  <a:srgbClr val="334155"/>
                </a:solidFill>
                <a:latin typeface="Plus Jakarta Sans Medium"/>
              </a:rPr>
              <a:t> A fixed sequence of requirements is too rigid for a modern social platform.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4875" y="4266158"/>
            <a:ext cx="4905375" cy="8684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1" sz="1425" i="0" u="none">
                <a:solidFill>
                  <a:srgbClr val="334155"/>
                </a:solidFill>
                <a:latin typeface="Plus Jakarta Sans"/>
              </a:rPr>
              <a:t>Incremental Value:</a:t>
            </a:r>
            <a:r>
              <a:rPr b="0" sz="1425" i="0" u="none">
                <a:solidFill>
                  <a:srgbClr val="334155"/>
                </a:solidFill>
                <a:latin typeface="Plus Jakarta Sans Medium"/>
              </a:rPr>
              <a:t> Sprints allow the team to release usable features early without waiting for the entire system.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4875" y="5325070"/>
            <a:ext cx="4905375" cy="8684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1" sz="1425" i="0" u="none">
                <a:solidFill>
                  <a:srgbClr val="334155"/>
                </a:solidFill>
                <a:latin typeface="Plus Jakarta Sans"/>
              </a:rPr>
              <a:t>Stakeholder Alignment:</a:t>
            </a:r>
            <a:r>
              <a:rPr b="0" sz="1425" i="0" u="none">
                <a:solidFill>
                  <a:srgbClr val="334155"/>
                </a:solidFill>
                <a:latin typeface="Plus Jakarta Sans Medium"/>
              </a:rPr>
              <a:t> Continuous testing and review cycles ensure we build what the university actually needs.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9850" y="1569392"/>
            <a:ext cx="5162550" cy="39243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71500" y="474017"/>
            <a:ext cx="116014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3150" i="0" u="none">
                <a:solidFill>
                  <a:srgbClr val="0F172A"/>
                </a:solidFill>
                <a:latin typeface="Plus Jakarta Sans ExtraBold"/>
              </a:rPr>
              <a:t>Methodology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1500" y="1121717"/>
            <a:ext cx="11049000" cy="28575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3515766"/>
            <a:ext cx="104775" cy="219075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4285208"/>
            <a:ext cx="104775" cy="219075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5344120"/>
            <a:ext cx="104775" cy="21907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876573"/>
            <a:ext cx="2547937" cy="4161978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5187" y="1876573"/>
            <a:ext cx="2547937" cy="416197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8875" y="1876573"/>
            <a:ext cx="2547937" cy="4161978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72562" y="1876573"/>
            <a:ext cx="2547937" cy="416197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2962423"/>
            <a:ext cx="1955244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2100" i="0" u="none">
                <a:solidFill>
                  <a:srgbClr val="0F172A"/>
                </a:solidFill>
                <a:latin typeface="Plus Jakarta Sans ExtraBold"/>
              </a:rPr>
              <a:t>1. Backlog &amp; 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772048"/>
            <a:ext cx="1862137" cy="14473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0" sz="1425" i="0" u="none">
                <a:solidFill>
                  <a:srgbClr val="334155"/>
                </a:solidFill>
                <a:latin typeface="Plus Jakarta Sans Medium"/>
              </a:rPr>
              <a:t>Collect platform requirements and select realistic high-priority items for the sprint.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8087" y="2962423"/>
            <a:ext cx="1955244" cy="1000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2100" i="0" u="none">
                <a:solidFill>
                  <a:srgbClr val="0F172A"/>
                </a:solidFill>
                <a:latin typeface="Plus Jakarta Sans ExtraBold"/>
              </a:rPr>
              <a:t>2. Development Sprint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8087" y="4105423"/>
            <a:ext cx="1862137" cy="14473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0" sz="1425" i="0" u="none">
                <a:solidFill>
                  <a:srgbClr val="334155"/>
                </a:solidFill>
                <a:latin typeface="Plus Jakarta Sans Medium"/>
              </a:rPr>
              <a:t>Design, code, integrate, and continuously test the selected campus features.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1775" y="2962423"/>
            <a:ext cx="1955244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2100" i="0" u="none">
                <a:solidFill>
                  <a:srgbClr val="0F172A"/>
                </a:solidFill>
                <a:latin typeface="Plus Jakarta Sans ExtraBold"/>
              </a:rPr>
              <a:t>3. Sprint Review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1775" y="3772048"/>
            <a:ext cx="1862137" cy="1736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0" sz="1425" i="0" u="none">
                <a:solidFill>
                  <a:srgbClr val="334155"/>
                </a:solidFill>
                <a:latin typeface="Plus Jakarta Sans Medium"/>
              </a:rPr>
              <a:t>Demonstrate completed functionality to university stakeholders and gather feedback.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5462" y="2962423"/>
            <a:ext cx="1955244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2100" i="0" u="none">
                <a:solidFill>
                  <a:srgbClr val="0F172A"/>
                </a:solidFill>
                <a:latin typeface="Plus Jakarta Sans ExtraBold"/>
              </a:rPr>
              <a:t>4. Release Increment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5462" y="3772048"/>
            <a:ext cx="1862137" cy="14473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0" sz="1425" i="0" u="none">
                <a:solidFill>
                  <a:srgbClr val="334155"/>
                </a:solidFill>
                <a:latin typeface="Plus Jakarta Sans Medium"/>
              </a:rPr>
              <a:t>Deploy stable, tested modules to the platform and refine the backlog for the next cycle.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400" y="2286148"/>
            <a:ext cx="304800" cy="40005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48087" y="2286148"/>
            <a:ext cx="504825" cy="40005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81775" y="2286148"/>
            <a:ext cx="400050" cy="400050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15462" y="2286148"/>
            <a:ext cx="400050" cy="40005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71500" y="571500"/>
            <a:ext cx="116014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3150" i="0" u="none">
                <a:solidFill>
                  <a:srgbClr val="0F172A"/>
                </a:solidFill>
                <a:latin typeface="Plus Jakarta Sans ExtraBold"/>
              </a:rPr>
              <a:t>The Agile Scrum Rhythm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1500" y="1219200"/>
            <a:ext cx="11049000" cy="28575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022425"/>
            <a:ext cx="5238750" cy="3870424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1750" y="2022425"/>
            <a:ext cx="5238750" cy="38704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9650" y="2460575"/>
            <a:ext cx="4580572" cy="352425"/>
          </a:xfrm>
          <a:prstGeom prst="rect">
            <a:avLst/>
          </a:prstGeom>
          <a:noFill/>
        </p:spPr>
        <p:txBody>
          <a:bodyPr wrap="square" lIns="356741" rIns="0" tIns="0" bIns="0" anchor="t">
            <a:spAutoFit/>
          </a:bodyPr>
          <a:lstStyle/>
          <a:p>
            <a:pPr algn="l"/>
            <a:r>
              <a:rPr b="0" sz="2100" i="0" u="none">
                <a:solidFill>
                  <a:srgbClr val="4F46E5"/>
                </a:solidFill>
                <a:latin typeface="Plus Jakarta Sans ExtraBold"/>
              </a:rPr>
              <a:t>Advantages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9650" y="2936825"/>
            <a:ext cx="4362450" cy="190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19900" y="2460575"/>
            <a:ext cx="4580572" cy="352425"/>
          </a:xfrm>
          <a:prstGeom prst="rect">
            <a:avLst/>
          </a:prstGeom>
          <a:noFill/>
        </p:spPr>
        <p:txBody>
          <a:bodyPr wrap="square" lIns="356741" rIns="0" tIns="0" bIns="0" anchor="t">
            <a:spAutoFit/>
          </a:bodyPr>
          <a:lstStyle/>
          <a:p>
            <a:pPr algn="l"/>
            <a:r>
              <a:rPr b="0" sz="2100" i="0" u="none">
                <a:solidFill>
                  <a:srgbClr val="F43F5E"/>
                </a:solidFill>
                <a:latin typeface="Plus Jakarta Sans ExtraBold"/>
              </a:rPr>
              <a:t>Watch-outs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819900" y="2936825"/>
            <a:ext cx="4362450" cy="190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9650" y="2508200"/>
            <a:ext cx="261491" cy="2667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43025" y="3146375"/>
            <a:ext cx="4029075" cy="5789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0" sz="1425" i="0" u="none">
                <a:solidFill>
                  <a:srgbClr val="334155"/>
                </a:solidFill>
                <a:latin typeface="Plus Jakarta Sans Medium"/>
              </a:rPr>
              <a:t>Highly responsive to changing university and user needs as they evolve.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3025" y="3915816"/>
            <a:ext cx="4029075" cy="5789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0" sz="1425" i="0" u="none">
                <a:solidFill>
                  <a:srgbClr val="334155"/>
                </a:solidFill>
                <a:latin typeface="Plus Jakarta Sans Medium"/>
              </a:rPr>
              <a:t>Early, usable modules provide visible progress to stakeholders rapidly.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3025" y="4685258"/>
            <a:ext cx="4029075" cy="5789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0" sz="1425" i="0" u="none">
                <a:solidFill>
                  <a:srgbClr val="334155"/>
                </a:solidFill>
                <a:latin typeface="Plus Jakarta Sans Medium"/>
              </a:rPr>
              <a:t>Continuous feedback effectively reduces the risk of building unwanted features.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19900" y="2508200"/>
            <a:ext cx="261491" cy="2667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153275" y="3146375"/>
            <a:ext cx="4029075" cy="5789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0" sz="1425" i="0" u="none">
                <a:solidFill>
                  <a:srgbClr val="334155"/>
                </a:solidFill>
                <a:latin typeface="Plus Jakarta Sans Medium"/>
              </a:rPr>
              <a:t>Requires regular and committed availability from university stakeholders.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53275" y="3915816"/>
            <a:ext cx="4029075" cy="5789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0" sz="1425" i="0" u="none">
                <a:solidFill>
                  <a:srgbClr val="334155"/>
                </a:solidFill>
                <a:latin typeface="Plus Jakarta Sans Medium"/>
              </a:rPr>
              <a:t>Continuous backlog growth can rapidly lead to unchecked scope creep.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3275" y="4685258"/>
            <a:ext cx="4029075" cy="5789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0" sz="1425" i="0" u="none">
                <a:solidFill>
                  <a:srgbClr val="334155"/>
                </a:solidFill>
                <a:latin typeface="Plus Jakarta Sans Medium"/>
              </a:rPr>
              <a:t>Timelines and budgets require highly disciplined architectural control.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1500" y="571500"/>
            <a:ext cx="116014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3150" i="0" u="none">
                <a:solidFill>
                  <a:srgbClr val="0F172A"/>
                </a:solidFill>
                <a:latin typeface="Plus Jakarta Sans ExtraBold"/>
              </a:rPr>
              <a:t>Scrum: Advantages &amp; Watch-outs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1500" y="1219200"/>
            <a:ext cx="11049000" cy="28575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9650" y="3165425"/>
            <a:ext cx="104775" cy="219075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9650" y="3934866"/>
            <a:ext cx="104775" cy="219075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9650" y="4704308"/>
            <a:ext cx="104775" cy="219075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19900" y="3165425"/>
            <a:ext cx="104775" cy="219075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19900" y="3934866"/>
            <a:ext cx="104775" cy="219075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19900" y="4704308"/>
            <a:ext cx="104775" cy="21907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9750" y="2029866"/>
            <a:ext cx="8572500" cy="279826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405538" y="2515641"/>
            <a:ext cx="7380922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0" sz="4800" i="0" u="none">
                <a:solidFill>
                  <a:srgbClr val="0F172A"/>
                </a:solidFill>
                <a:latin typeface="Plus Jakarta Sans ExtraBold"/>
              </a:rPr>
              <a:t>Vision &amp;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81275" y="3468141"/>
            <a:ext cx="7029450" cy="7313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b="0" sz="1800" i="0" u="none">
                <a:solidFill>
                  <a:srgbClr val="334155"/>
                </a:solidFill>
                <a:latin typeface="Plus Jakarta Sans Medium"/>
              </a:rPr>
              <a:t>Defining the platform boundaries to protect project focus, timeline, and budget.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971675" y="2087016"/>
            <a:ext cx="8248650" cy="33602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409"/>
              </a:lnSpc>
            </a:pPr>
            <a:r>
              <a:rPr b="1" sz="3150" i="1" u="none">
                <a:solidFill>
                  <a:srgbClr val="0F172A"/>
                </a:solidFill>
                <a:latin typeface="Plus Jakarta Sans"/>
              </a:rPr>
              <a:t> To create a unified digital campus ecosystem that connects students, faculty, university officials and campus organizations through social interaction, academic collaboration, communication and community services.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04925" y="2468016"/>
            <a:ext cx="571500" cy="144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0"/>
              </a:lnSpc>
            </a:pPr>
            <a:r>
              <a:rPr b="1" sz="9000" i="1" u="none">
                <a:solidFill>
                  <a:srgbClr val="0EA5E9"/>
                </a:solidFill>
                <a:latin typeface="Plus Jakarta Sans"/>
              </a:rPr>
              <a:t>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15575" y="5447255"/>
            <a:ext cx="571500" cy="1410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0"/>
              </a:lnSpc>
            </a:pPr>
            <a:r>
              <a:rPr b="1" sz="9000" i="1" u="none">
                <a:solidFill>
                  <a:srgbClr val="0EA5E9"/>
                </a:solidFill>
                <a:latin typeface="Plus Jakarta Sans"/>
              </a:rPr>
              <a:t>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571500"/>
            <a:ext cx="116014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3150" i="0" u="none">
                <a:solidFill>
                  <a:srgbClr val="0F172A"/>
                </a:solidFill>
                <a:latin typeface="Plus Jakarta Sans ExtraBold"/>
              </a:rPr>
              <a:t>Vision: Unified Digital Campus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" y="1219200"/>
            <a:ext cx="11049000" cy="28575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922412"/>
            <a:ext cx="11049000" cy="407030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1025" y="1931937"/>
          <a:ext cx="11029949" cy="4051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  <a:lnL>
                  <a:noFill/>
                </a:lnL>
                <a:lnR>
                  <a:noFill/>
                </a:lnR>
                <a:lnT>
                  <a:noFill/>
                </a:lnT>
                <a:lnB>
                  <a:noFill/>
                </a:lnB>
                <a:lnV>
                  <a:noFill/>
                </a:lnV>
                <a:lnH>
                  <a:noFill/>
                </a:lnH>
              </a:tblPr>
              <a:tblGrid>
                <a:gridCol w="2757487"/>
                <a:gridCol w="4136231"/>
                <a:gridCol w="4136231"/>
              </a:tblGrid>
              <a:tr h="1012812">
                <a:tc>
                  <a:txBody>
                    <a:bodyPr/>
                    <a:lstStyle/>
                    <a:p>
                      <a:pPr algn="l"/>
                      <a:r>
                        <a:rPr b="0" sz="1575" i="0" u="none">
                          <a:solidFill>
                            <a:srgbClr val="0F172A"/>
                          </a:solidFill>
                          <a:latin typeface="Plus Jakarta Sans ExtraBold"/>
                        </a:rPr>
                        <a:t>Category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575" i="0" u="none">
                          <a:solidFill>
                            <a:srgbClr val="0F172A"/>
                          </a:solidFill>
                          <a:latin typeface="Plus Jakarta Sans ExtraBold"/>
                        </a:rPr>
                        <a:t>In-Scope (Deliverables)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575" i="0" u="none">
                          <a:solidFill>
                            <a:srgbClr val="0F172A"/>
                          </a:solidFill>
                          <a:latin typeface="Plus Jakarta Sans ExtraBold"/>
                        </a:rPr>
                        <a:t>Out-of-Scope (Excluded)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</a:tr>
              <a:tr h="1012812">
                <a:tc>
                  <a:txBody>
                    <a:bodyPr/>
                    <a:lstStyle/>
                    <a:p>
                      <a:pPr algn="l"/>
                      <a:r>
                        <a:rPr b="1" sz="1425" i="0" u="none">
                          <a:solidFill>
                            <a:srgbClr val="334155"/>
                          </a:solidFill>
                          <a:latin typeface="Plus Jakarta Sans"/>
                        </a:rPr>
                        <a:t>Core Experience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25" i="0" u="none">
                          <a:solidFill>
                            <a:srgbClr val="334155"/>
                          </a:solidFill>
                          <a:latin typeface="Plus Jakarta Sans Medium"/>
                        </a:rPr>
                        <a:t>User management, Social networking, Communication feeds, Private messaging.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25" i="0" u="none">
                          <a:solidFill>
                            <a:srgbClr val="334155"/>
                          </a:solidFill>
                          <a:latin typeface="Plus Jakarta Sans Medium"/>
                        </a:rPr>
                        <a:t>Full Learning Management System (LMS) replacement.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1012812">
                <a:tc>
                  <a:txBody>
                    <a:bodyPr/>
                    <a:lstStyle/>
                    <a:p>
                      <a:pPr algn="l"/>
                      <a:r>
                        <a:rPr b="1" sz="1425" i="0" u="none">
                          <a:solidFill>
                            <a:srgbClr val="334155"/>
                          </a:solidFill>
                          <a:latin typeface="Plus Jakarta Sans"/>
                        </a:rPr>
                        <a:t>Academic &amp; Official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25" i="0" u="none">
                          <a:solidFill>
                            <a:srgbClr val="334155"/>
                          </a:solidFill>
                          <a:latin typeface="Plus Jakarta Sans Medium"/>
                        </a:rPr>
                        <a:t>Academic support profiles, Authorised notices, Event booking &amp; QR check-in.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25" i="0" u="none">
                          <a:solidFill>
                            <a:srgbClr val="334155"/>
                          </a:solidFill>
                          <a:latin typeface="Plus Jakarta Sans Medium"/>
                        </a:rPr>
                        <a:t>Online exams, Remote proctoring, Video conferencing.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1012814">
                <a:tc>
                  <a:txBody>
                    <a:bodyPr/>
                    <a:lstStyle/>
                    <a:p>
                      <a:pPr algn="l"/>
                      <a:r>
                        <a:rPr b="1" sz="1425" i="0" u="none">
                          <a:solidFill>
                            <a:srgbClr val="334155"/>
                          </a:solidFill>
                          <a:latin typeface="Plus Jakarta Sans"/>
                        </a:rPr>
                        <a:t>Community &amp; Control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25" i="0" u="none">
                          <a:solidFill>
                            <a:srgbClr val="334155"/>
                          </a:solidFill>
                          <a:latin typeface="Plus Jakarta Sans Medium"/>
                        </a:rPr>
                        <a:t>Clubs, Marketplace, Lost &amp; Found, Search, Moderation tools.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25" i="0" u="none">
                          <a:solidFill>
                            <a:srgbClr val="334155"/>
                          </a:solidFill>
                          <a:latin typeface="Plus Jakarta Sans Medium"/>
                        </a:rPr>
                        <a:t>ERP systems, Institutional Finance, Payment gateways.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581025" y="2666255"/>
            <a:ext cx="2757487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338512" y="2666255"/>
            <a:ext cx="413623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74743" y="2666255"/>
            <a:ext cx="413623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81025" y="3963292"/>
            <a:ext cx="2757487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38512" y="3963292"/>
            <a:ext cx="413623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74743" y="3963292"/>
            <a:ext cx="413623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81025" y="4970859"/>
            <a:ext cx="2757487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38512" y="4970859"/>
            <a:ext cx="413623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74743" y="4970859"/>
            <a:ext cx="413623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1500" y="571500"/>
            <a:ext cx="116014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3150" i="0" u="none">
                <a:solidFill>
                  <a:srgbClr val="0F172A"/>
                </a:solidFill>
                <a:latin typeface="Plus Jakarta Sans ExtraBold"/>
              </a:rPr>
              <a:t>Scope Boundaries: In vs. Out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1500" y="1219200"/>
            <a:ext cx="11049000" cy="28575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1750" y="1796950"/>
            <a:ext cx="5238750" cy="40005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1500" y="1796950"/>
            <a:ext cx="5238750" cy="10054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b="1" sz="1650" i="0" u="none">
                <a:solidFill>
                  <a:srgbClr val="4F46E5"/>
                </a:solidFill>
                <a:latin typeface="Plus Jakarta Sans"/>
              </a:rPr>
              <a:t>The success of UIU CampusConnect relies on serving distinct groups with specific needs without compromising system integrity.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4875" y="3040558"/>
            <a:ext cx="4905375" cy="5789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1" sz="1425" i="0" u="none">
                <a:solidFill>
                  <a:srgbClr val="334155"/>
                </a:solidFill>
                <a:latin typeface="Plus Jakarta Sans"/>
              </a:rPr>
              <a:t>End Users:</a:t>
            </a:r>
            <a:r>
              <a:rPr b="0" sz="1425" i="0" u="none">
                <a:solidFill>
                  <a:srgbClr val="334155"/>
                </a:solidFill>
                <a:latin typeface="Plus Jakarta Sans Medium"/>
              </a:rPr>
              <a:t> Students and Faculty utilizing academic and social features.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4875" y="3810000"/>
            <a:ext cx="4905375" cy="5789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1" sz="1425" i="0" u="none">
                <a:solidFill>
                  <a:srgbClr val="334155"/>
                </a:solidFill>
                <a:latin typeface="Plus Jakarta Sans"/>
              </a:rPr>
              <a:t>Community Leaders:</a:t>
            </a:r>
            <a:r>
              <a:rPr b="0" sz="1425" i="0" u="none">
                <a:solidFill>
                  <a:srgbClr val="334155"/>
                </a:solidFill>
                <a:latin typeface="Plus Jakarta Sans Medium"/>
              </a:rPr>
              <a:t> Club Executives managing events and content.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4875" y="4579441"/>
            <a:ext cx="4905375" cy="5789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1" sz="1425" i="0" u="none">
                <a:solidFill>
                  <a:srgbClr val="334155"/>
                </a:solidFill>
                <a:latin typeface="Plus Jakarta Sans"/>
              </a:rPr>
              <a:t>Execution Team:</a:t>
            </a:r>
            <a:r>
              <a:rPr b="0" sz="1425" i="0" u="none">
                <a:solidFill>
                  <a:srgbClr val="334155"/>
                </a:solidFill>
                <a:latin typeface="Plus Jakarta Sans Medium"/>
              </a:rPr>
              <a:t> Project Manager and Development Team building the platform.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4875" y="5348882"/>
            <a:ext cx="4905375" cy="5789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1" sz="1425" i="0" u="none">
                <a:solidFill>
                  <a:srgbClr val="334155"/>
                </a:solidFill>
                <a:latin typeface="Plus Jakarta Sans"/>
              </a:rPr>
              <a:t>Governance:</a:t>
            </a:r>
            <a:r>
              <a:rPr b="0" sz="1425" i="0" u="none">
                <a:solidFill>
                  <a:srgbClr val="334155"/>
                </a:solidFill>
                <a:latin typeface="Plus Jakarta Sans Medium"/>
              </a:rPr>
              <a:t> University Administration providing institutional approval.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9850" y="1835050"/>
            <a:ext cx="5162550" cy="39243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71500" y="571500"/>
            <a:ext cx="116014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3150" i="0" u="none">
                <a:solidFill>
                  <a:srgbClr val="0F172A"/>
                </a:solidFill>
                <a:latin typeface="Plus Jakarta Sans ExtraBold"/>
              </a:rPr>
              <a:t>Key Project Stakeholders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1500" y="1219200"/>
            <a:ext cx="11049000" cy="28575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3059608"/>
            <a:ext cx="104775" cy="219075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3829050"/>
            <a:ext cx="104775" cy="219075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4598491"/>
            <a:ext cx="104775" cy="219075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5367932"/>
            <a:ext cx="104775" cy="21907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11601" y="2758529"/>
            <a:ext cx="5368796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0" sz="4800" i="0" u="none">
                <a:solidFill>
                  <a:srgbClr val="0F172A"/>
                </a:solidFill>
                <a:latin typeface="Plus Jakarta Sans ExtraBold"/>
              </a:rPr>
              <a:t>Risk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3853904"/>
            <a:ext cx="11049000" cy="7313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b="0" sz="1800" i="0" u="none">
                <a:solidFill>
                  <a:srgbClr val="334155"/>
                </a:solidFill>
                <a:latin typeface="Plus Jakarta Sans Medium"/>
              </a:rPr>
              <a:t>Protecting project scope, delivery schedule, and platform security through early identification and response.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628775"/>
            <a:ext cx="11049000" cy="465772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1500" y="5416004"/>
            <a:ext cx="11049000" cy="5789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0" sz="1425" i="0" u="none">
                <a:solidFill>
                  <a:srgbClr val="334155"/>
                </a:solidFill>
                <a:latin typeface="Plus Jakarta Sans Medium"/>
              </a:rPr>
              <a:t>Scores calculated as Probability × Impact (Scale 1-25). Unchecked scope and subsequent schedule delays pose the highest critical threat to delivery.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571500"/>
            <a:ext cx="116014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3150" i="0" u="none">
                <a:solidFill>
                  <a:srgbClr val="0F172A"/>
                </a:solidFill>
                <a:latin typeface="Plus Jakarta Sans ExtraBold"/>
              </a:rPr>
              <a:t>Top Project Risks (Priority Score)</a:t>
            </a:r>
          </a:p>
        </p:txBody>
      </p:sp>
      <p:sp>
        <p:nvSpPr>
          <p:cNvPr id="6" name="Rectangle 5"/>
          <p:cNvSpPr/>
          <p:nvPr/>
        </p:nvSpPr>
        <p:spPr>
          <a:xfrm>
            <a:off x="571500" y="1219200"/>
            <a:ext cx="11049000" cy="28575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209948"/>
            <a:ext cx="3492549" cy="3495228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9799" y="2209948"/>
            <a:ext cx="3492549" cy="349522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8099" y="2209948"/>
            <a:ext cx="3492549" cy="34952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3295798"/>
            <a:ext cx="1105450" cy="333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2100" i="0" u="none">
                <a:solidFill>
                  <a:srgbClr val="0F172A"/>
                </a:solidFill>
                <a:latin typeface="Plus Jakarta Sans ExtraBold"/>
              </a:rPr>
              <a:t>Mitigate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72048"/>
            <a:ext cx="2806749" cy="14473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0" sz="1425" i="0" u="none">
                <a:solidFill>
                  <a:srgbClr val="334155"/>
                </a:solidFill>
                <a:latin typeface="Plus Jakarta Sans Medium"/>
              </a:rPr>
              <a:t>Prevent risks before they occur through rigorous security testing, automated backups, and strict scope approval gateways.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92699" y="3295798"/>
            <a:ext cx="1051068" cy="333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2100" i="0" u="none">
                <a:solidFill>
                  <a:srgbClr val="0F172A"/>
                </a:solidFill>
                <a:latin typeface="Plus Jakarta Sans ExtraBold"/>
              </a:rPr>
              <a:t>Monitor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92699" y="3772048"/>
            <a:ext cx="2806749" cy="11578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0" sz="1425" i="0" u="none">
                <a:solidFill>
                  <a:srgbClr val="334155"/>
                </a:solidFill>
                <a:latin typeface="Plus Jakarta Sans Medium"/>
              </a:rPr>
              <a:t>Detect early warning signals by tracking sprint velocity, server performance metrics, and flagged inappropriate content.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70999" y="3295798"/>
            <a:ext cx="1066539" cy="333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2100" i="0" u="none">
                <a:solidFill>
                  <a:srgbClr val="0F172A"/>
                </a:solidFill>
                <a:latin typeface="Plus Jakarta Sans ExtraBold"/>
              </a:rPr>
              <a:t>Manage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70999" y="3772048"/>
            <a:ext cx="2806749" cy="11578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0" sz="1425" i="0" u="none">
                <a:solidFill>
                  <a:srgbClr val="334155"/>
                </a:solidFill>
                <a:latin typeface="Plus Jakarta Sans Medium"/>
              </a:rPr>
              <a:t>Respond rapidly after impact by restoring backups, reassigning delayed workloads, and initiating incident processes.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2619523"/>
            <a:ext cx="400050" cy="40005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92699" y="2619523"/>
            <a:ext cx="400050" cy="40005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70999" y="2619523"/>
            <a:ext cx="400050" cy="4000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71500" y="571500"/>
            <a:ext cx="116014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3150" i="0" u="none">
                <a:solidFill>
                  <a:srgbClr val="0F172A"/>
                </a:solidFill>
                <a:latin typeface="Plus Jakarta Sans ExtraBold"/>
              </a:rPr>
              <a:t>RMMM Framework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1500" y="1219200"/>
            <a:ext cx="11049000" cy="28575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336053"/>
            <a:ext cx="11049000" cy="7243316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1025" y="345578"/>
          <a:ext cx="11029948" cy="72242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  <a:lnL>
                  <a:noFill/>
                </a:lnL>
                <a:lnR>
                  <a:noFill/>
                </a:lnR>
                <a:lnT>
                  <a:noFill/>
                </a:lnT>
                <a:lnB>
                  <a:noFill/>
                </a:lnB>
                <a:lnV>
                  <a:noFill/>
                </a:lnV>
                <a:lnH>
                  <a:noFill/>
                </a:lnH>
              </a:tblPr>
              <a:tblGrid>
                <a:gridCol w="4411860"/>
                <a:gridCol w="1102965"/>
                <a:gridCol w="3860452"/>
                <a:gridCol w="1654671"/>
              </a:tblGrid>
              <a:tr h="1204044">
                <a:tc>
                  <a:txBody>
                    <a:bodyPr/>
                    <a:lstStyle/>
                    <a:p>
                      <a:pPr algn="l"/>
                      <a:r>
                        <a:rPr b="0" sz="1575" i="0" u="none">
                          <a:solidFill>
                            <a:srgbClr val="0F172A"/>
                          </a:solidFill>
                          <a:latin typeface="Plus Jakarta Sans ExtraBold"/>
                        </a:rPr>
                        <a:t>Risk Description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575" i="0" u="none">
                          <a:solidFill>
                            <a:srgbClr val="0F172A"/>
                          </a:solidFill>
                          <a:latin typeface="Plus Jakarta Sans ExtraBold"/>
                        </a:rPr>
                        <a:t>Pri.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575" i="0" u="none">
                          <a:solidFill>
                            <a:srgbClr val="0F172A"/>
                          </a:solidFill>
                          <a:latin typeface="Plus Jakarta Sans ExtraBold"/>
                        </a:rPr>
                        <a:t>Mitigation Strategy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575" i="0" u="none">
                          <a:solidFill>
                            <a:srgbClr val="0F172A"/>
                          </a:solidFill>
                          <a:latin typeface="Plus Jakarta Sans ExtraBold"/>
                        </a:rPr>
                        <a:t>Owner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</a:tr>
              <a:tr h="1204044">
                <a:tc>
                  <a:txBody>
                    <a:bodyPr/>
                    <a:lstStyle/>
                    <a:p>
                      <a:pPr algn="l"/>
                      <a:r>
                        <a:rPr b="1" sz="1425" i="0" u="none">
                          <a:solidFill>
                            <a:srgbClr val="334155"/>
                          </a:solidFill>
                          <a:latin typeface="Plus Jakarta Sans"/>
                        </a:rPr>
                        <a:t>R01:</a:t>
                      </a:r>
                      <a:r>
                        <a:rPr b="0" sz="1425" i="0" u="none">
                          <a:solidFill>
                            <a:srgbClr val="334155"/>
                          </a:solidFill>
                          <a:latin typeface="Plus Jakarta Sans Medium"/>
                        </a:rPr>
                        <a:t> Frequent changes in requirements/scope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25" i="0" u="none">
                          <a:solidFill>
                            <a:srgbClr val="BE123C"/>
                          </a:solidFill>
                          <a:latin typeface="Plus Jakarta Sans ExtraBold"/>
                        </a:rPr>
                        <a:t>25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25" i="0" u="none">
                          <a:solidFill>
                            <a:srgbClr val="334155"/>
                          </a:solidFill>
                          <a:latin typeface="Plus Jakarta Sans Medium"/>
                        </a:rPr>
                        <a:t>Maintain a prioritised product backlog and approve major scope changes via stakeholders.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25" i="0" u="none">
                          <a:solidFill>
                            <a:srgbClr val="334155"/>
                          </a:solidFill>
                          <a:latin typeface="Plus Jakarta Sans Medium"/>
                        </a:rPr>
                        <a:t>Project Manager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1204044">
                <a:tc>
                  <a:txBody>
                    <a:bodyPr/>
                    <a:lstStyle/>
                    <a:p>
                      <a:pPr algn="l"/>
                      <a:r>
                        <a:rPr b="1" sz="1425" i="0" u="none">
                          <a:solidFill>
                            <a:srgbClr val="334155"/>
                          </a:solidFill>
                          <a:latin typeface="Plus Jakarta Sans"/>
                        </a:rPr>
                        <a:t>R02:</a:t>
                      </a:r>
                      <a:r>
                        <a:rPr b="0" sz="1425" i="0" u="none">
                          <a:solidFill>
                            <a:srgbClr val="334155"/>
                          </a:solidFill>
                          <a:latin typeface="Plus Jakarta Sans Medium"/>
                        </a:rPr>
                        <a:t> Development takes longer causing delays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25" i="0" u="none">
                          <a:solidFill>
                            <a:srgbClr val="B45309"/>
                          </a:solidFill>
                          <a:latin typeface="Plus Jakarta Sans ExtraBold"/>
                        </a:rPr>
                        <a:t>20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25" i="0" u="none">
                          <a:solidFill>
                            <a:srgbClr val="334155"/>
                          </a:solidFill>
                          <a:latin typeface="Plus Jakarta Sans Medium"/>
                        </a:rPr>
                        <a:t>Use sprint planning, realistic deadlines, dependency tracking, and weekly reviews.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25" i="0" u="none">
                          <a:solidFill>
                            <a:srgbClr val="334155"/>
                          </a:solidFill>
                          <a:latin typeface="Plus Jakarta Sans Medium"/>
                        </a:rPr>
                        <a:t>Project Manager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1204044">
                <a:tc>
                  <a:txBody>
                    <a:bodyPr/>
                    <a:lstStyle/>
                    <a:p>
                      <a:pPr algn="l"/>
                      <a:r>
                        <a:rPr b="1" sz="1425" i="0" u="none">
                          <a:solidFill>
                            <a:srgbClr val="334155"/>
                          </a:solidFill>
                          <a:latin typeface="Plus Jakarta Sans"/>
                        </a:rPr>
                        <a:t>R05:</a:t>
                      </a:r>
                      <a:r>
                        <a:rPr b="0" sz="1425" i="0" u="none">
                          <a:solidFill>
                            <a:srgbClr val="334155"/>
                          </a:solidFill>
                          <a:latin typeface="Plus Jakarta Sans Medium"/>
                        </a:rPr>
                        <a:t> High concurrent usage reduces performance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25" i="0" u="none">
                          <a:solidFill>
                            <a:srgbClr val="1D4ED8"/>
                          </a:solidFill>
                          <a:latin typeface="Plus Jakarta Sans ExtraBold"/>
                        </a:rPr>
                        <a:t>16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25" i="0" u="none">
                          <a:solidFill>
                            <a:srgbClr val="334155"/>
                          </a:solidFill>
                          <a:latin typeface="Plus Jakarta Sans Medium"/>
                        </a:rPr>
                        <a:t>Conduct load testing, optimise queries, and scale infrastructure when required.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25" i="0" u="none">
                          <a:solidFill>
                            <a:srgbClr val="334155"/>
                          </a:solidFill>
                          <a:latin typeface="Plus Jakarta Sans Medium"/>
                        </a:rPr>
                        <a:t>Technical Lead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1204044">
                <a:tc>
                  <a:txBody>
                    <a:bodyPr/>
                    <a:lstStyle/>
                    <a:p>
                      <a:pPr algn="l"/>
                      <a:r>
                        <a:rPr b="1" sz="1425" i="0" u="none">
                          <a:solidFill>
                            <a:srgbClr val="334155"/>
                          </a:solidFill>
                          <a:latin typeface="Plus Jakarta Sans"/>
                        </a:rPr>
                        <a:t>R06:</a:t>
                      </a:r>
                      <a:r>
                        <a:rPr b="0" sz="1425" i="0" u="none">
                          <a:solidFill>
                            <a:srgbClr val="334155"/>
                          </a:solidFill>
                          <a:latin typeface="Plus Jakarta Sans Medium"/>
                        </a:rPr>
                        <a:t> Low adoption by students and faculty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25" i="0" u="none">
                          <a:solidFill>
                            <a:srgbClr val="1D4ED8"/>
                          </a:solidFill>
                          <a:latin typeface="Plus Jakarta Sans ExtraBold"/>
                        </a:rPr>
                        <a:t>16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25" i="0" u="none">
                          <a:solidFill>
                            <a:srgbClr val="334155"/>
                          </a:solidFill>
                          <a:latin typeface="Plus Jakarta Sans Medium"/>
                        </a:rPr>
                        <a:t>Involve representative users early, collect feedback, and provide onboarding support.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25" i="0" u="none">
                          <a:solidFill>
                            <a:srgbClr val="334155"/>
                          </a:solidFill>
                          <a:latin typeface="Plus Jakarta Sans Medium"/>
                        </a:rPr>
                        <a:t>Product Owner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1204046">
                <a:tc>
                  <a:txBody>
                    <a:bodyPr/>
                    <a:lstStyle/>
                    <a:p>
                      <a:pPr algn="l"/>
                      <a:r>
                        <a:rPr b="1" sz="1425" i="0" u="none">
                          <a:solidFill>
                            <a:srgbClr val="334155"/>
                          </a:solidFill>
                          <a:latin typeface="Plus Jakarta Sans"/>
                        </a:rPr>
                        <a:t>R03:</a:t>
                      </a:r>
                      <a:r>
                        <a:rPr b="0" sz="1425" i="0" u="none">
                          <a:solidFill>
                            <a:srgbClr val="334155"/>
                          </a:solidFill>
                          <a:latin typeface="Plus Jakarta Sans Medium"/>
                        </a:rPr>
                        <a:t> Security vulnerabilities expose data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25" i="0" u="none">
                          <a:solidFill>
                            <a:srgbClr val="0369A1"/>
                          </a:solidFill>
                          <a:latin typeface="Plus Jakarta Sans ExtraBold"/>
                        </a:rPr>
                        <a:t>15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25" i="0" u="none">
                          <a:solidFill>
                            <a:srgbClr val="334155"/>
                          </a:solidFill>
                          <a:latin typeface="Plus Jakarta Sans Medium"/>
                        </a:rPr>
                        <a:t>Use role-based access, secure authentication, and periodic vulnerability reviews.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25" i="0" u="none">
                          <a:solidFill>
                            <a:srgbClr val="334155"/>
                          </a:solidFill>
                          <a:latin typeface="Plus Jakarta Sans Medium"/>
                        </a:rPr>
                        <a:t>Security Lead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581025" y="1079896"/>
            <a:ext cx="441186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992885" y="1079896"/>
            <a:ext cx="110296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5851" y="1079896"/>
            <a:ext cx="386045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956303" y="1079896"/>
            <a:ext cx="165467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81025" y="2376933"/>
            <a:ext cx="441186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992885" y="2376933"/>
            <a:ext cx="110296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95851" y="2376933"/>
            <a:ext cx="386045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956303" y="2376933"/>
            <a:ext cx="165467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81025" y="3673971"/>
            <a:ext cx="441186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92885" y="3673971"/>
            <a:ext cx="110296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095851" y="3673971"/>
            <a:ext cx="386045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956303" y="3673971"/>
            <a:ext cx="165467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81025" y="4971008"/>
            <a:ext cx="441186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92885" y="4971008"/>
            <a:ext cx="110296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95851" y="4971008"/>
            <a:ext cx="386045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956303" y="4971008"/>
            <a:ext cx="165467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81025" y="6268045"/>
            <a:ext cx="441186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92885" y="6268045"/>
            <a:ext cx="110296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95851" y="6268045"/>
            <a:ext cx="386045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956303" y="6268045"/>
            <a:ext cx="165467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1500" y="-721221"/>
            <a:ext cx="116014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3150" i="0" u="none">
                <a:solidFill>
                  <a:srgbClr val="0F172A"/>
                </a:solidFill>
                <a:latin typeface="Plus Jakarta Sans ExtraBold"/>
              </a:rPr>
              <a:t>Risk Plan Sheet (Top 5 Risks)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71500" y="-73521"/>
            <a:ext cx="11049000" cy="28575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979079" y="2758529"/>
            <a:ext cx="8233841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0" sz="4800" i="0" u="none">
                <a:solidFill>
                  <a:srgbClr val="0F172A"/>
                </a:solidFill>
                <a:latin typeface="Plus Jakarta Sans ExtraBold"/>
              </a:rPr>
              <a:t>Work Breakdown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3853904"/>
            <a:ext cx="11049000" cy="7313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b="0" sz="1800" i="0" u="none">
                <a:solidFill>
                  <a:srgbClr val="334155"/>
                </a:solidFill>
                <a:latin typeface="Plus Jakarta Sans Medium"/>
              </a:rPr>
              <a:t>Decomposing the platform into manageable deliverables and work packages across 7 project phases.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159496"/>
            <a:ext cx="3492549" cy="3596282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9799" y="2159496"/>
            <a:ext cx="3492549" cy="3596282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8099" y="2159496"/>
            <a:ext cx="3492549" cy="35962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3245346"/>
            <a:ext cx="1611920" cy="333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2100" i="0" u="none">
                <a:solidFill>
                  <a:srgbClr val="0F172A"/>
                </a:solidFill>
                <a:latin typeface="Plus Jakarta Sans ExtraBold"/>
              </a:rPr>
              <a:t>1.0 Initiation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2699" y="3245346"/>
            <a:ext cx="2360763" cy="333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2100" i="0" u="none">
                <a:solidFill>
                  <a:srgbClr val="0F172A"/>
                </a:solidFill>
                <a:latin typeface="Plus Jakarta Sans ExtraBold"/>
              </a:rPr>
              <a:t>2.0 Requirements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70999" y="3245346"/>
            <a:ext cx="2465151" cy="333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2100" i="0" u="none">
                <a:solidFill>
                  <a:srgbClr val="0F172A"/>
                </a:solidFill>
                <a:latin typeface="Plus Jakarta Sans ExtraBold"/>
              </a:rPr>
              <a:t>3.0 System Design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2569071"/>
            <a:ext cx="352425" cy="4000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4400" y="3873996"/>
            <a:ext cx="2552700" cy="289470"/>
          </a:xfrm>
          <a:prstGeom prst="rect">
            <a:avLst/>
          </a:prstGeom>
          <a:noFill/>
        </p:spPr>
        <p:txBody>
          <a:bodyPr wrap="square" lIns="238125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0" sz="1425" i="0" u="none">
                <a:solidFill>
                  <a:srgbClr val="334155"/>
                </a:solidFill>
                <a:latin typeface="Plus Jakarta Sans Medium"/>
              </a:rPr>
              <a:t>Project charter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239666"/>
            <a:ext cx="2552700" cy="289470"/>
          </a:xfrm>
          <a:prstGeom prst="rect">
            <a:avLst/>
          </a:prstGeom>
          <a:noFill/>
        </p:spPr>
        <p:txBody>
          <a:bodyPr wrap="square" lIns="238125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0" sz="1425" i="0" u="none">
                <a:solidFill>
                  <a:srgbClr val="334155"/>
                </a:solidFill>
                <a:latin typeface="Plus Jakarta Sans Medium"/>
              </a:rPr>
              <a:t>Stakeholder identification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605337"/>
            <a:ext cx="2552700" cy="289470"/>
          </a:xfrm>
          <a:prstGeom prst="rect">
            <a:avLst/>
          </a:prstGeom>
          <a:noFill/>
        </p:spPr>
        <p:txBody>
          <a:bodyPr wrap="square" lIns="238125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0" sz="1425" i="0" u="none">
                <a:solidFill>
                  <a:srgbClr val="334155"/>
                </a:solidFill>
                <a:latin typeface="Plus Jakarta Sans Medium"/>
              </a:rPr>
              <a:t>Feasibility analysis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92699" y="2569071"/>
            <a:ext cx="400050" cy="40005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92699" y="3873996"/>
            <a:ext cx="2806749" cy="289470"/>
          </a:xfrm>
          <a:prstGeom prst="rect">
            <a:avLst/>
          </a:prstGeom>
          <a:noFill/>
        </p:spPr>
        <p:txBody>
          <a:bodyPr wrap="square" lIns="238125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0" sz="1425" i="0" u="none">
                <a:solidFill>
                  <a:srgbClr val="334155"/>
                </a:solidFill>
                <a:latin typeface="Plus Jakarta Sans Medium"/>
              </a:rPr>
              <a:t>User needs collection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2699" y="4239666"/>
            <a:ext cx="2806749" cy="578941"/>
          </a:xfrm>
          <a:prstGeom prst="rect">
            <a:avLst/>
          </a:prstGeom>
          <a:noFill/>
        </p:spPr>
        <p:txBody>
          <a:bodyPr wrap="square" lIns="238125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0" sz="1425" i="0" u="none">
                <a:solidFill>
                  <a:srgbClr val="334155"/>
                </a:solidFill>
                <a:latin typeface="Plus Jakarta Sans Medium"/>
              </a:rPr>
              <a:t>Functional &amp; Non-functional specs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92699" y="4894808"/>
            <a:ext cx="2806749" cy="289470"/>
          </a:xfrm>
          <a:prstGeom prst="rect">
            <a:avLst/>
          </a:prstGeom>
          <a:noFill/>
        </p:spPr>
        <p:txBody>
          <a:bodyPr wrap="square" lIns="238125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0" sz="1425" i="0" u="none">
                <a:solidFill>
                  <a:srgbClr val="334155"/>
                </a:solidFill>
                <a:latin typeface="Plus Jakarta Sans Medium"/>
              </a:rPr>
              <a:t>Requirement validation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70999" y="2569071"/>
            <a:ext cx="400050" cy="40005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470999" y="3873996"/>
            <a:ext cx="2524125" cy="289470"/>
          </a:xfrm>
          <a:prstGeom prst="rect">
            <a:avLst/>
          </a:prstGeom>
          <a:noFill/>
        </p:spPr>
        <p:txBody>
          <a:bodyPr wrap="square" lIns="238125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0" sz="1425" i="0" u="none">
                <a:solidFill>
                  <a:srgbClr val="334155"/>
                </a:solidFill>
                <a:latin typeface="Plus Jakarta Sans Medium"/>
              </a:rPr>
              <a:t>System architecture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0999" y="4239666"/>
            <a:ext cx="2524125" cy="289470"/>
          </a:xfrm>
          <a:prstGeom prst="rect">
            <a:avLst/>
          </a:prstGeom>
          <a:noFill/>
        </p:spPr>
        <p:txBody>
          <a:bodyPr wrap="square" lIns="238125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0" sz="1425" i="0" u="none">
                <a:solidFill>
                  <a:srgbClr val="334155"/>
                </a:solidFill>
                <a:latin typeface="Plus Jakarta Sans Medium"/>
              </a:rPr>
              <a:t>Database &amp; UI/UX design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70999" y="4605337"/>
            <a:ext cx="2524125" cy="289470"/>
          </a:xfrm>
          <a:prstGeom prst="rect">
            <a:avLst/>
          </a:prstGeom>
          <a:noFill/>
        </p:spPr>
        <p:txBody>
          <a:bodyPr wrap="square" lIns="238125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0" sz="1425" i="0" u="none">
                <a:solidFill>
                  <a:srgbClr val="334155"/>
                </a:solidFill>
                <a:latin typeface="Plus Jakarta Sans Medium"/>
              </a:rPr>
              <a:t>Security design protocols</a:t>
            </a:r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400" y="3935908"/>
            <a:ext cx="161925" cy="190500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400" y="4301579"/>
            <a:ext cx="161925" cy="190500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400" y="4667250"/>
            <a:ext cx="161925" cy="190500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92699" y="3935908"/>
            <a:ext cx="161925" cy="190500"/>
          </a:xfrm>
          <a:prstGeom prst="rect">
            <a:avLst/>
          </a:prstGeom>
        </p:spPr>
      </p:pic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92699" y="4301579"/>
            <a:ext cx="161925" cy="190500"/>
          </a:xfrm>
          <a:prstGeom prst="rect">
            <a:avLst/>
          </a:prstGeom>
        </p:spPr>
      </p:pic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92699" y="4956720"/>
            <a:ext cx="161925" cy="190500"/>
          </a:xfrm>
          <a:prstGeom prst="rect">
            <a:avLst/>
          </a:prstGeom>
        </p:spPr>
      </p:pic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70999" y="3935908"/>
            <a:ext cx="161925" cy="190500"/>
          </a:xfrm>
          <a:prstGeom prst="rect">
            <a:avLst/>
          </a:prstGeom>
        </p:spPr>
      </p:pic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70999" y="4301579"/>
            <a:ext cx="161925" cy="190500"/>
          </a:xfrm>
          <a:prstGeom prst="rect">
            <a:avLst/>
          </a:prstGeom>
        </p:spPr>
      </p:pic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70999" y="4667250"/>
            <a:ext cx="161925" cy="1905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71500" y="571500"/>
            <a:ext cx="116014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3150" i="0" u="none">
                <a:solidFill>
                  <a:srgbClr val="0F172A"/>
                </a:solidFill>
                <a:latin typeface="Plus Jakarta Sans ExtraBold"/>
              </a:rPr>
              <a:t>WBS: Foundation Phases (1.0 - 3.0)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1500" y="1219200"/>
            <a:ext cx="11049000" cy="28575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731912"/>
            <a:ext cx="2547937" cy="445144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5187" y="1731912"/>
            <a:ext cx="2547937" cy="4451449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8875" y="1731912"/>
            <a:ext cx="2547937" cy="4451449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72562" y="1731912"/>
            <a:ext cx="2547937" cy="445144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2817762"/>
            <a:ext cx="1955244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2100" i="0" u="none">
                <a:solidFill>
                  <a:srgbClr val="0F172A"/>
                </a:solidFill>
                <a:latin typeface="Plus Jakarta Sans ExtraBold"/>
              </a:rPr>
              <a:t>4.1 &amp; 4.2: Users &amp; Social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27387"/>
            <a:ext cx="1862137" cy="1736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0" sz="1425" i="0" u="none">
                <a:solidFill>
                  <a:srgbClr val="334155"/>
                </a:solidFill>
                <a:latin typeface="Plus Jakarta Sans Medium"/>
              </a:rPr>
              <a:t>Auth, role permissions, profiles, campus feed, posts, comments, and connections.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8087" y="2817762"/>
            <a:ext cx="1955244" cy="1000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2100" i="0" u="none">
                <a:solidFill>
                  <a:srgbClr val="0F172A"/>
                </a:solidFill>
                <a:latin typeface="Plus Jakarta Sans ExtraBold"/>
              </a:rPr>
              <a:t>4.3 &amp; 4.4: Comm &amp; Academic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8087" y="3960762"/>
            <a:ext cx="1862137" cy="14473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0" sz="1425" i="0" u="none">
                <a:solidFill>
                  <a:srgbClr val="334155"/>
                </a:solidFill>
                <a:latin typeface="Plus Jakarta Sans Medium"/>
              </a:rPr>
              <a:t>Private messaging, notifications, faculty profiles, and official section announcements.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1775" y="2817762"/>
            <a:ext cx="1955244" cy="1000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2100" i="0" u="none">
                <a:solidFill>
                  <a:srgbClr val="0F172A"/>
                </a:solidFill>
                <a:latin typeface="Plus Jakarta Sans ExtraBold"/>
              </a:rPr>
              <a:t>4.5 &amp; 4.6: Events &amp; Clubs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1775" y="3960762"/>
            <a:ext cx="1862137" cy="14473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0" sz="1425" i="0" u="none">
                <a:solidFill>
                  <a:srgbClr val="334155"/>
                </a:solidFill>
                <a:latin typeface="Plus Jakarta Sans Medium"/>
              </a:rPr>
              <a:t>Event publishing, QR check-in, club directories, memberships, and galleries.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5462" y="2817762"/>
            <a:ext cx="1955244" cy="1000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2100" i="0" u="none">
                <a:solidFill>
                  <a:srgbClr val="0F172A"/>
                </a:solidFill>
                <a:latin typeface="Plus Jakarta Sans ExtraBold"/>
              </a:rPr>
              <a:t>4.7 &amp; 4.8: Community &amp; Admin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5462" y="3960762"/>
            <a:ext cx="1862137" cy="1736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0" sz="1425" i="0" u="none">
                <a:solidFill>
                  <a:srgbClr val="334155"/>
                </a:solidFill>
                <a:latin typeface="Plus Jakarta Sans Medium"/>
              </a:rPr>
              <a:t>Groups, marketplace, lost &amp; found, global reporting, moderation, and master dashboard.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400" y="2141487"/>
            <a:ext cx="504825" cy="40005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48087" y="2141487"/>
            <a:ext cx="504825" cy="40005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81775" y="2141487"/>
            <a:ext cx="352425" cy="400050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15462" y="2141487"/>
            <a:ext cx="504825" cy="40005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71500" y="571500"/>
            <a:ext cx="116014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3150" i="0" u="none">
                <a:solidFill>
                  <a:srgbClr val="0F172A"/>
                </a:solidFill>
                <a:latin typeface="Plus Jakarta Sans ExtraBold"/>
              </a:rPr>
              <a:t>WBS: 4.0 Development Decomposition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1500" y="1219200"/>
            <a:ext cx="11049000" cy="28575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159496"/>
            <a:ext cx="3492549" cy="3596282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9799" y="2159496"/>
            <a:ext cx="3492549" cy="3596282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8099" y="2159496"/>
            <a:ext cx="3492549" cy="35962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3245346"/>
            <a:ext cx="1448618" cy="333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2100" i="0" u="none">
                <a:solidFill>
                  <a:srgbClr val="0F172A"/>
                </a:solidFill>
                <a:latin typeface="Plus Jakarta Sans ExtraBold"/>
              </a:rPr>
              <a:t>5.0 Testing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2699" y="3245346"/>
            <a:ext cx="2161988" cy="333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2100" i="0" u="none">
                <a:solidFill>
                  <a:srgbClr val="0F172A"/>
                </a:solidFill>
                <a:latin typeface="Plus Jakarta Sans ExtraBold"/>
              </a:rPr>
              <a:t>6.0 Deployment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70999" y="3245346"/>
            <a:ext cx="2206369" cy="333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2100" i="0" u="none">
                <a:solidFill>
                  <a:srgbClr val="0F172A"/>
                </a:solidFill>
                <a:latin typeface="Plus Jakarta Sans ExtraBold"/>
              </a:rPr>
              <a:t>7.0 Maintenance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2569071"/>
            <a:ext cx="504825" cy="4000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4400" y="3873996"/>
            <a:ext cx="2806749" cy="289470"/>
          </a:xfrm>
          <a:prstGeom prst="rect">
            <a:avLst/>
          </a:prstGeom>
          <a:noFill/>
        </p:spPr>
        <p:txBody>
          <a:bodyPr wrap="square" lIns="238125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0" sz="1425" i="0" u="none">
                <a:solidFill>
                  <a:srgbClr val="334155"/>
                </a:solidFill>
                <a:latin typeface="Plus Jakarta Sans Medium"/>
              </a:rPr>
              <a:t>Unit &amp; Integration testing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239666"/>
            <a:ext cx="2806749" cy="289470"/>
          </a:xfrm>
          <a:prstGeom prst="rect">
            <a:avLst/>
          </a:prstGeom>
          <a:noFill/>
        </p:spPr>
        <p:txBody>
          <a:bodyPr wrap="square" lIns="238125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0" sz="1425" i="0" u="none">
                <a:solidFill>
                  <a:srgbClr val="334155"/>
                </a:solidFill>
                <a:latin typeface="Plus Jakarta Sans Medium"/>
              </a:rPr>
              <a:t>System testing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605337"/>
            <a:ext cx="2806749" cy="578941"/>
          </a:xfrm>
          <a:prstGeom prst="rect">
            <a:avLst/>
          </a:prstGeom>
          <a:noFill/>
        </p:spPr>
        <p:txBody>
          <a:bodyPr wrap="square" lIns="238125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0" sz="1425" i="0" u="none">
                <a:solidFill>
                  <a:srgbClr val="334155"/>
                </a:solidFill>
                <a:latin typeface="Plus Jakarta Sans Medium"/>
              </a:rPr>
              <a:t>User Acceptance Testing (UAT)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92699" y="2569071"/>
            <a:ext cx="504825" cy="40005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92699" y="3873996"/>
            <a:ext cx="2676525" cy="289470"/>
          </a:xfrm>
          <a:prstGeom prst="rect">
            <a:avLst/>
          </a:prstGeom>
          <a:noFill/>
        </p:spPr>
        <p:txBody>
          <a:bodyPr wrap="square" lIns="238125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0" sz="1425" i="0" u="none">
                <a:solidFill>
                  <a:srgbClr val="334155"/>
                </a:solidFill>
                <a:latin typeface="Plus Jakarta Sans Medium"/>
              </a:rPr>
              <a:t>Server &amp; environment setup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2699" y="4239666"/>
            <a:ext cx="2676525" cy="289470"/>
          </a:xfrm>
          <a:prstGeom prst="rect">
            <a:avLst/>
          </a:prstGeom>
          <a:noFill/>
        </p:spPr>
        <p:txBody>
          <a:bodyPr wrap="square" lIns="238125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0" sz="1425" i="0" u="none">
                <a:solidFill>
                  <a:srgbClr val="334155"/>
                </a:solidFill>
                <a:latin typeface="Plus Jakarta Sans Medium"/>
              </a:rPr>
              <a:t>Production deployment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92699" y="4605337"/>
            <a:ext cx="2676525" cy="289470"/>
          </a:xfrm>
          <a:prstGeom prst="rect">
            <a:avLst/>
          </a:prstGeom>
          <a:noFill/>
        </p:spPr>
        <p:txBody>
          <a:bodyPr wrap="square" lIns="238125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0" sz="1425" i="0" u="none">
                <a:solidFill>
                  <a:srgbClr val="334155"/>
                </a:solidFill>
                <a:latin typeface="Plus Jakarta Sans Medium"/>
              </a:rPr>
              <a:t>Data migration &amp; config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70999" y="2569071"/>
            <a:ext cx="400050" cy="40005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470999" y="3873996"/>
            <a:ext cx="2800350" cy="289470"/>
          </a:xfrm>
          <a:prstGeom prst="rect">
            <a:avLst/>
          </a:prstGeom>
          <a:noFill/>
        </p:spPr>
        <p:txBody>
          <a:bodyPr wrap="square" lIns="238125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0" sz="1425" i="0" u="none">
                <a:solidFill>
                  <a:srgbClr val="334155"/>
                </a:solidFill>
                <a:latin typeface="Plus Jakarta Sans Medium"/>
              </a:rPr>
              <a:t>Bug fixing &amp; security updates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0999" y="4239666"/>
            <a:ext cx="2800350" cy="289470"/>
          </a:xfrm>
          <a:prstGeom prst="rect">
            <a:avLst/>
          </a:prstGeom>
          <a:noFill/>
        </p:spPr>
        <p:txBody>
          <a:bodyPr wrap="square" lIns="238125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0" sz="1425" i="0" u="none">
                <a:solidFill>
                  <a:srgbClr val="334155"/>
                </a:solidFill>
                <a:latin typeface="Plus Jakarta Sans Medium"/>
              </a:rPr>
              <a:t>Performance optimisation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70999" y="4605337"/>
            <a:ext cx="2800350" cy="289470"/>
          </a:xfrm>
          <a:prstGeom prst="rect">
            <a:avLst/>
          </a:prstGeom>
          <a:noFill/>
        </p:spPr>
        <p:txBody>
          <a:bodyPr wrap="square" lIns="238125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0" sz="1425" i="0" u="none">
                <a:solidFill>
                  <a:srgbClr val="334155"/>
                </a:solidFill>
                <a:latin typeface="Plus Jakarta Sans Medium"/>
              </a:rPr>
              <a:t>Ongoing user support</a:t>
            </a:r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4400" y="3935908"/>
            <a:ext cx="161925" cy="190500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4400" y="4301579"/>
            <a:ext cx="161925" cy="190500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4400" y="4667250"/>
            <a:ext cx="161925" cy="190500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92699" y="3935908"/>
            <a:ext cx="161925" cy="190500"/>
          </a:xfrm>
          <a:prstGeom prst="rect">
            <a:avLst/>
          </a:prstGeom>
        </p:spPr>
      </p:pic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92699" y="4301579"/>
            <a:ext cx="161925" cy="190500"/>
          </a:xfrm>
          <a:prstGeom prst="rect">
            <a:avLst/>
          </a:prstGeom>
        </p:spPr>
      </p:pic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92699" y="4667250"/>
            <a:ext cx="161925" cy="190500"/>
          </a:xfrm>
          <a:prstGeom prst="rect">
            <a:avLst/>
          </a:prstGeom>
        </p:spPr>
      </p:pic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70999" y="3935908"/>
            <a:ext cx="161925" cy="190500"/>
          </a:xfrm>
          <a:prstGeom prst="rect">
            <a:avLst/>
          </a:prstGeom>
        </p:spPr>
      </p:pic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70999" y="4301579"/>
            <a:ext cx="161925" cy="190500"/>
          </a:xfrm>
          <a:prstGeom prst="rect">
            <a:avLst/>
          </a:prstGeom>
        </p:spPr>
      </p:pic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70999" y="4667250"/>
            <a:ext cx="161925" cy="1905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71500" y="571500"/>
            <a:ext cx="116014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3150" i="0" u="none">
                <a:solidFill>
                  <a:srgbClr val="0F172A"/>
                </a:solidFill>
                <a:latin typeface="Plus Jakarta Sans ExtraBold"/>
              </a:rPr>
              <a:t>WBS: Delivery Phases (5.0 - 7.0)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1500" y="1219200"/>
            <a:ext cx="11049000" cy="28575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609129"/>
            <a:ext cx="2547937" cy="469701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5187" y="1609129"/>
            <a:ext cx="2547937" cy="469701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8875" y="1609129"/>
            <a:ext cx="2547937" cy="469701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72562" y="1609129"/>
            <a:ext cx="2547937" cy="469701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2694979"/>
            <a:ext cx="1955244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2100" i="0" u="none">
                <a:solidFill>
                  <a:srgbClr val="0F172A"/>
                </a:solidFill>
                <a:latin typeface="Plus Jakarta Sans ExtraBold"/>
              </a:rPr>
              <a:t>Agile Scrum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504604"/>
            <a:ext cx="1862137" cy="1736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0" sz="1425" i="0" u="none">
                <a:solidFill>
                  <a:srgbClr val="334155"/>
                </a:solidFill>
                <a:latin typeface="Plus Jakarta Sans Medium"/>
              </a:rPr>
              <a:t>Incremental releases make this broad platform significantly easier to test, adjust, and deploy securely.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8087" y="2694979"/>
            <a:ext cx="1955244" cy="1000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2100" i="0" u="none">
                <a:solidFill>
                  <a:srgbClr val="0F172A"/>
                </a:solidFill>
                <a:latin typeface="Plus Jakarta Sans ExtraBold"/>
              </a:rPr>
              <a:t>Vision &amp; Scope Boundaries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8087" y="3837979"/>
            <a:ext cx="1862137" cy="1736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0" sz="1425" i="0" u="none">
                <a:solidFill>
                  <a:srgbClr val="334155"/>
                </a:solidFill>
                <a:latin typeface="Plus Jakarta Sans Medium"/>
              </a:rPr>
              <a:t>Clear exclusions prevent the platform from ballooning into an unmanageable LMS or Finance ERP system.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1775" y="2694979"/>
            <a:ext cx="1955244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2100" i="0" u="none">
                <a:solidFill>
                  <a:srgbClr val="0F172A"/>
                </a:solidFill>
                <a:latin typeface="Plus Jakarta Sans ExtraBold"/>
              </a:rPr>
              <a:t>Risk Plan &amp; RMMM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1775" y="3504604"/>
            <a:ext cx="1862137" cy="2315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0" sz="1425" i="0" u="none">
                <a:solidFill>
                  <a:srgbClr val="334155"/>
                </a:solidFill>
                <a:latin typeface="Plus Jakarta Sans Medium"/>
              </a:rPr>
              <a:t>Critical threats to schedule and security are identified early, monitored continuously, and handled strategically.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5462" y="2694979"/>
            <a:ext cx="1955244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2100" i="0" u="none">
                <a:solidFill>
                  <a:srgbClr val="0F172A"/>
                </a:solidFill>
                <a:latin typeface="Plus Jakarta Sans ExtraBold"/>
              </a:rPr>
              <a:t>Structured Breakdown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5462" y="3504604"/>
            <a:ext cx="1862137" cy="2315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79"/>
              </a:lnSpc>
            </a:pPr>
            <a:r>
              <a:rPr b="0" sz="1425" i="0" u="none">
                <a:solidFill>
                  <a:srgbClr val="334155"/>
                </a:solidFill>
                <a:latin typeface="Plus Jakarta Sans Medium"/>
              </a:rPr>
              <a:t>The WBS successfully converts the overall project into manageable deliverables to support scheduling and resources.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400" y="2018704"/>
            <a:ext cx="400050" cy="40005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48087" y="2018704"/>
            <a:ext cx="400050" cy="40005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1775" y="2018704"/>
            <a:ext cx="400050" cy="400050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15462" y="2018704"/>
            <a:ext cx="447675" cy="40005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71500" y="551854"/>
            <a:ext cx="116014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3150" i="0" u="none">
                <a:solidFill>
                  <a:srgbClr val="0F172A"/>
                </a:solidFill>
                <a:latin typeface="Plus Jakarta Sans ExtraBold"/>
              </a:rPr>
              <a:t>Delivery Control System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1500" y="1199554"/>
            <a:ext cx="11049000" cy="28575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95275" y="2418457"/>
            <a:ext cx="11601450" cy="1152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0" sz="7200" i="0" u="none">
                <a:solidFill>
                  <a:srgbClr val="0F172A"/>
                </a:solidFill>
                <a:latin typeface="Plus Jakarta Sans ExtraBold"/>
              </a:rP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3809107"/>
            <a:ext cx="11049000" cy="487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840"/>
              </a:lnSpc>
            </a:pPr>
            <a:r>
              <a:rPr b="0" sz="2400" i="0" u="none">
                <a:solidFill>
                  <a:srgbClr val="334155"/>
                </a:solidFill>
                <a:latin typeface="Plus Jakarta Sans SemiBold"/>
              </a:rPr>
              <a:t>Thank you for your time and attention.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